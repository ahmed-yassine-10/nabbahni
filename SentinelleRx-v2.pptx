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Hello. i am sentinellerx. i predict medicine shortages before patients suffer.</a:t>
            </a:r>
          </a:p>
          <a:p/>
          <a:p>
            <a:r>
              <a:t>Don't detect shortages. Prevent them. · Automate or Die — Healthcare &amp; Pharma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patients walk from pharmacy to pharmacy. nobody sees the shortage coming.</a:t>
            </a:r>
          </a:p>
          <a:p/>
          <a:p>
            <a:r>
              <a:t>Patient → pharmacy → out of stock → search 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solution: predict. explain. act early. like a weather forecast for medicines.</a:t>
            </a:r>
          </a:p>
          <a:p/>
          <a:p>
            <a:r>
              <a:t>Stocks + sales + social signals → AI prediction → human validation →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am careful. i never learn the wrong lesson from bad data.</a:t>
            </a:r>
          </a:p>
          <a:p/>
          <a:p>
            <a:r>
              <a:t>Explainable AI · no black box · humans always in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impact: shortages predicted 15 to 30 days early.</a:t>
            </a:r>
          </a:p>
          <a:p/>
          <a:p>
            <a:r>
              <a:t>Tested on 825,000 rows of data · only 6% error at one week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Feasibility: i was built in 48 hours with free, open tools.</a:t>
            </a:r>
          </a:p>
          <a:p/>
          <a:p>
            <a:r>
              <a:t>Team of 4 · normal laptops · cost ≈ 0 TND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secret: i am a weather service for medicines.</a:t>
            </a:r>
          </a:p>
          <a:p/>
          <a:p>
            <a:r>
              <a:t>Simple colors everyone already understands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serve three users: the central pharmacy, the pharmacist, and the citizen.</a:t>
            </a:r>
          </a:p>
          <a:p/>
          <a:p>
            <a:r>
              <a:t>One platform · three portals · one shared truth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 show the past. i predict the future.</a:t>
            </a:r>
          </a:p>
          <a:p/>
          <a:p>
            <a:r>
              <a:t>Predictive + explainable + Arabic — nobody else does all three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time. watch me save insulin — 35 days before the crisis.</a:t>
            </a:r>
          </a:p>
          <a:p/>
          <a:p>
            <a:r>
              <a:t>The perfect scenario · from data to patient in 6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me one region and one flu season. i will prove it.</a:t>
            </a:r>
          </a:p>
          <a:p/>
          <a:p>
            <a:r>
              <a:t>Pilot: Grand Tunis · 10–20 pharmacies + Central Pharmacy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SENTINELLERX //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57775" y="1838325"/>
            <a:ext cx="2076450" cy="2076450"/>
          </a:xfrm>
          <a:prstGeom prst="ellipse">
            <a:avLst/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31536" y="2212086"/>
            <a:ext cx="1328928" cy="1328928"/>
          </a:xfrm>
          <a:prstGeom prst="ellipse">
            <a:avLst/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05297" y="2585847"/>
            <a:ext cx="581406" cy="581406"/>
          </a:xfrm>
          <a:prstGeom prst="ellipse">
            <a:avLst/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7775" y="2876550"/>
            <a:ext cx="207645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0" y="1838325"/>
            <a:ext cx="9525" cy="20764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9500000">
            <a:off x="6096000" y="2867025"/>
            <a:ext cx="1038225" cy="19050"/>
          </a:xfrm>
          <a:prstGeom prst="rect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39181" y="2461260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94348" y="225361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8232" y="3416427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7775" y="2667000"/>
            <a:ext cx="207645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2EFE6"/>
                </a:solidFill>
                <a:latin typeface="Trebuchet MS"/>
              </a:rPr>
              <a:t>Sentinelle</a:t>
            </a:r>
            <a:r>
              <a:rPr sz="3000" b="1">
                <a:solidFill>
                  <a:srgbClr val="35C77F"/>
                </a:solidFill>
                <a:latin typeface="Trebuchet MS"/>
              </a:rPr>
              <a:t>Rx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625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6300" y="50863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1500" y="52959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2000" y="54864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9650" y="54864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2000" y="56769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8200" y="56769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6769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56769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6800" y="56769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3900" y="58483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007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4950" y="52006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HELLO. I AM </a:t>
            </a:r>
            <a:r>
              <a:rPr sz="1900" b="1">
                <a:solidFill>
                  <a:srgbClr val="7FF0B4"/>
                </a:solidFill>
                <a:latin typeface="Consolas"/>
              </a:rPr>
              <a:t>SENTINELLERX</a:t>
            </a:r>
            <a:r>
              <a:rPr sz="1900" b="1">
                <a:solidFill>
                  <a:srgbClr val="E2EFE6"/>
                </a:solidFill>
                <a:latin typeface="Consolas"/>
              </a:rPr>
              <a:t>. I PREDICT MEDICINE SHORTAGES BEFORE PATIENTS SUFFER.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4950" y="60007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Don't detect shortages. Prevent them. · Automate or Die — Healthcare &amp; Pharma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01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01 ·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3385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0055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0060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730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6735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3405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3410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0085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6755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760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34300" y="192405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00500" y="2171700"/>
            <a:ext cx="4191000" cy="2857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3385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055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0060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6730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6735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3405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3410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0085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67550" y="2514600"/>
            <a:ext cx="266700" cy="219075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00500" y="2762250"/>
            <a:ext cx="4191000" cy="2857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 rot="21060000">
            <a:off x="5095875" y="2019300"/>
            <a:ext cx="2000250" cy="49530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54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200" b="1">
                <a:solidFill>
                  <a:srgbClr val="D5455C"/>
                </a:solidFill>
                <a:latin typeface="Consolas"/>
              </a:rPr>
              <a:t>RUPTURE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THE PROBLEM: PATIENTS WALK FROM PHARMACY TO PHARMACY. </a:t>
            </a:r>
            <a:r>
              <a:rPr sz="1900" b="1">
                <a:solidFill>
                  <a:srgbClr val="7FF0B4"/>
                </a:solidFill>
                <a:latin typeface="Consolas"/>
              </a:rPr>
              <a:t>NOBODY SEES THE SHORTAGE COMING.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Patient → pharmacy → out of stock → search again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4350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6750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PATIENTS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They search, pharmacy after pharmacy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A sick person visits 3, 4, 5 pharmacies to find one medicine. Sometimes they give up.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28988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81388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PHARMACIES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They find out too late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The shelf is already empty when the shortage is discovered. Too late to order — imports take 4 to 12 weeks 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3625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6025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CENTRAL PHARMACY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It reacts after the crisis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Reports arrive weeks late. When the problem is visible, the time to act is already gone 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8262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10662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OUR QUESTION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Can we see it coming?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What if we could predict shortages weeks before they happen — and act early?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02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1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02 ·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719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4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DATA 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2475" y="2257425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76775" y="221932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863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48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DEMAND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76875" y="2257425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91175" y="221932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07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92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SHORTAGE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1275" y="2257425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5575" y="221932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151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EXPLAIN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05675" y="2257425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19975" y="221932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95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80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DECIDE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MY SOLUTION: </a:t>
            </a:r>
            <a:r>
              <a:rPr sz="1900" b="1">
                <a:solidFill>
                  <a:srgbClr val="7FF0B4"/>
                </a:solidFill>
                <a:latin typeface="Consolas"/>
              </a:rPr>
              <a:t>PREDICT. EXPLAIN. ACT EARLY.</a:t>
            </a:r>
            <a:r>
              <a:rPr sz="1900" b="1">
                <a:solidFill>
                  <a:srgbClr val="E2EFE6"/>
                </a:solidFill>
                <a:latin typeface="Consolas"/>
              </a:rPr>
              <a:t> LIKE A WEATHER FORECAST FOR MEDICINES.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Stocks + sales + social signals → AI prediction → human validation → 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4350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750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MODULE 1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Data Hub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All the data in one place: pharmacy stocks, daily sales , PCT central stock, supplier delays, weather and epidemics.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28988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1388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MODULES 2–3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Demand AI + Shortage AI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I predict consumption — insulin: 2,000 → 2,700 units in 3 weeks — and shortage risk: Euthyrox, 87% , around August 17.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3625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6025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MODULE 4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Explainable AI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I give the causes: consumption +21% , supplier late, central stock low, 3 similar shortages before.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58262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10662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MODULE 5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Substitution engine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Medicine unavailable? I propose alternatives A, B, C (WHO rules). The pharmacist always validates.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03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1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03 ·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43250" y="1409700"/>
            <a:ext cx="4842510" cy="495300"/>
          </a:xfrm>
          <a:prstGeom prst="roundRect">
            <a:avLst>
              <a:gd name="adj" fmla="val 22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0" bIns="0" wrap="square"/>
          <a:lstStyle/>
          <a:p>
            <a:pPr algn="ctr"/>
            <a:r>
              <a:rPr sz="1250">
                <a:solidFill>
                  <a:srgbClr val="E2EFE6"/>
                </a:solidFill>
                <a:latin typeface="Georgia"/>
              </a:rPr>
              <a:t>Euthyrox : risque de rupture 87 % — consommation +21 %, retard fournisseur.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6682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5C77F"/>
                </a:solidFill>
                <a:latin typeface="Consolas"/>
              </a:rPr>
              <a:t>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38350"/>
            <a:ext cx="4842510" cy="438150"/>
          </a:xfrm>
          <a:prstGeom prst="roundRect">
            <a:avLst>
              <a:gd name="adj" fmla="val 22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0" bIns="0" wrap="square"/>
          <a:lstStyle/>
          <a:p>
            <a:pPr algn="r"/>
            <a:r>
              <a:rPr sz="1300">
                <a:solidFill>
                  <a:srgbClr val="A7C2B1"/>
                </a:solidFill>
                <a:latin typeface="Segoe UI"/>
              </a:rPr>
              <a:t>ارتفاع الطلب بنسبة ٢١٪ خلال ٣٠ يومًا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895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35C77F"/>
                </a:solidFill>
                <a:latin typeface="Consolas"/>
              </a:rPr>
              <a:t>لماذا؟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10125" y="2590800"/>
            <a:ext cx="952500" cy="666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29300" y="2590800"/>
            <a:ext cx="666750" cy="666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2725" y="2590800"/>
            <a:ext cx="476250" cy="666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05650" y="2590800"/>
            <a:ext cx="304800" cy="666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77125" y="2590800"/>
            <a:ext cx="171450" cy="66675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I AM CAREFUL. I NEVER </a:t>
            </a:r>
            <a:r>
              <a:rPr sz="1900" b="1">
                <a:solidFill>
                  <a:srgbClr val="7FF0B4"/>
                </a:solidFill>
                <a:latin typeface="Consolas"/>
              </a:rPr>
              <a:t>LEARN THE WRONG LESSON</a:t>
            </a:r>
            <a:r>
              <a:rPr sz="1900" b="1">
                <a:solidFill>
                  <a:srgbClr val="E2EFE6"/>
                </a:solidFill>
                <a:latin typeface="Consolas"/>
              </a:rPr>
              <a:t> FROM BAD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Explainable AI · no black box · humans always in 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4350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750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CLEVER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I never learn the wrong lesson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When a medicine is out of stock, sales look low. I correct this — so I never believe demand fell during a shortage.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8988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1388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HONEST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I give a range, not one number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Best case, expected, worst case. You always see how sure I am — not just a guess.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3625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6025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FAST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My reasons are ready in advance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I write my explanations the moment I compute a prediction — reading them is instant 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8262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0662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SAFE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One rule can overrule me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An essential medicine with less than 5 days of stock is always CRITICAL. No debate, no exception.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04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1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04 · QUANTIFIED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76500" y="1724025"/>
            <a:ext cx="72390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76500" y="2085975"/>
            <a:ext cx="72390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76500" y="2447925"/>
            <a:ext cx="72390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76500" y="2809875"/>
            <a:ext cx="72390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64680" y="1362075"/>
            <a:ext cx="9525" cy="18097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381125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TODAY</a:t>
            </a:r>
          </a:p>
        </p:txBody>
      </p:sp>
      <p:sp>
        <p:nvSpPr>
          <p:cNvPr id="12" name="Freeform 11"/>
          <p:cNvSpPr/>
          <p:nvPr/>
        </p:nvSpPr>
        <p:spPr>
          <a:xfrm>
            <a:off x="7000875" y="1807940"/>
            <a:ext cx="2714625" cy="541020"/>
          </a:xfrm>
          <a:custGeom>
            <a:avLst/>
            <a:gdLst/>
            <a:ahLst/>
            <a:cxnLst/>
            <a:rect l="l" t="t" r="r" b="b"/>
            <a:pathLst>
              <a:path w="2714625" h="541020">
                <a:moveTo>
                  <a:pt x="0" y="312689"/>
                </a:moveTo>
                <a:lnTo>
                  <a:pt x="180975" y="247497"/>
                </a:lnTo>
                <a:lnTo>
                  <a:pt x="361950" y="225195"/>
                </a:lnTo>
                <a:lnTo>
                  <a:pt x="542925" y="203836"/>
                </a:lnTo>
                <a:lnTo>
                  <a:pt x="723900" y="183374"/>
                </a:lnTo>
                <a:lnTo>
                  <a:pt x="904875" y="163759"/>
                </a:lnTo>
                <a:lnTo>
                  <a:pt x="1085850" y="144935"/>
                </a:lnTo>
                <a:lnTo>
                  <a:pt x="1266825" y="126844"/>
                </a:lnTo>
                <a:lnTo>
                  <a:pt x="1447800" y="109420"/>
                </a:lnTo>
                <a:lnTo>
                  <a:pt x="1628775" y="92595"/>
                </a:lnTo>
                <a:lnTo>
                  <a:pt x="1809750" y="76297"/>
                </a:lnTo>
                <a:lnTo>
                  <a:pt x="1990725" y="60451"/>
                </a:lnTo>
                <a:lnTo>
                  <a:pt x="2171700" y="44979"/>
                </a:lnTo>
                <a:lnTo>
                  <a:pt x="2352675" y="29802"/>
                </a:lnTo>
                <a:lnTo>
                  <a:pt x="2533650" y="14836"/>
                </a:lnTo>
                <a:lnTo>
                  <a:pt x="2714625" y="0"/>
                </a:lnTo>
                <a:lnTo>
                  <a:pt x="2714625" y="541020"/>
                </a:lnTo>
                <a:lnTo>
                  <a:pt x="2533650" y="525376"/>
                </a:lnTo>
                <a:lnTo>
                  <a:pt x="2352675" y="509862"/>
                </a:lnTo>
                <a:lnTo>
                  <a:pt x="2171700" y="494559"/>
                </a:lnTo>
                <a:lnTo>
                  <a:pt x="1990725" y="479551"/>
                </a:lnTo>
                <a:lnTo>
                  <a:pt x="1809750" y="464917"/>
                </a:lnTo>
                <a:lnTo>
                  <a:pt x="1628775" y="450735"/>
                </a:lnTo>
                <a:lnTo>
                  <a:pt x="1447800" y="437080"/>
                </a:lnTo>
                <a:lnTo>
                  <a:pt x="1266825" y="424024"/>
                </a:lnTo>
                <a:lnTo>
                  <a:pt x="1085850" y="411635"/>
                </a:lnTo>
                <a:lnTo>
                  <a:pt x="904875" y="399979"/>
                </a:lnTo>
                <a:lnTo>
                  <a:pt x="723900" y="389114"/>
                </a:lnTo>
                <a:lnTo>
                  <a:pt x="542925" y="379096"/>
                </a:lnTo>
                <a:lnTo>
                  <a:pt x="361950" y="369975"/>
                </a:lnTo>
                <a:lnTo>
                  <a:pt x="180975" y="361797"/>
                </a:lnTo>
                <a:close/>
              </a:path>
            </a:pathLst>
          </a:custGeom>
          <a:solidFill>
            <a:srgbClr val="12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476500" y="2129686"/>
            <a:ext cx="4343400" cy="499214"/>
          </a:xfrm>
          <a:custGeom>
            <a:avLst/>
            <a:gdLst/>
            <a:ahLst/>
            <a:cxnLst/>
            <a:rect l="l" t="t" r="r" b="b"/>
            <a:pathLst>
              <a:path w="4343400" h="499214">
                <a:moveTo>
                  <a:pt x="0" y="499214"/>
                </a:moveTo>
                <a:lnTo>
                  <a:pt x="180975" y="471629"/>
                </a:lnTo>
                <a:lnTo>
                  <a:pt x="361950" y="444129"/>
                </a:lnTo>
                <a:lnTo>
                  <a:pt x="542925" y="416796"/>
                </a:lnTo>
                <a:lnTo>
                  <a:pt x="723900" y="389714"/>
                </a:lnTo>
                <a:lnTo>
                  <a:pt x="904875" y="362962"/>
                </a:lnTo>
                <a:lnTo>
                  <a:pt x="1085850" y="336622"/>
                </a:lnTo>
                <a:lnTo>
                  <a:pt x="1266825" y="310769"/>
                </a:lnTo>
                <a:lnTo>
                  <a:pt x="1447800" y="285476"/>
                </a:lnTo>
                <a:lnTo>
                  <a:pt x="1628775" y="260815"/>
                </a:lnTo>
                <a:lnTo>
                  <a:pt x="1809750" y="236852"/>
                </a:lnTo>
                <a:lnTo>
                  <a:pt x="1990725" y="213648"/>
                </a:lnTo>
                <a:lnTo>
                  <a:pt x="2171700" y="191263"/>
                </a:lnTo>
                <a:lnTo>
                  <a:pt x="2352675" y="169749"/>
                </a:lnTo>
                <a:lnTo>
                  <a:pt x="2533650" y="149153"/>
                </a:lnTo>
                <a:lnTo>
                  <a:pt x="2714625" y="129519"/>
                </a:lnTo>
                <a:lnTo>
                  <a:pt x="2895600" y="110881"/>
                </a:lnTo>
                <a:lnTo>
                  <a:pt x="3076575" y="93270"/>
                </a:lnTo>
                <a:lnTo>
                  <a:pt x="3257550" y="76712"/>
                </a:lnTo>
                <a:lnTo>
                  <a:pt x="3438525" y="61223"/>
                </a:lnTo>
                <a:lnTo>
                  <a:pt x="3619500" y="46816"/>
                </a:lnTo>
                <a:lnTo>
                  <a:pt x="3800475" y="33494"/>
                </a:lnTo>
                <a:lnTo>
                  <a:pt x="3981450" y="21258"/>
                </a:lnTo>
                <a:lnTo>
                  <a:pt x="4162425" y="10098"/>
                </a:lnTo>
                <a:lnTo>
                  <a:pt x="4343400" y="0"/>
                </a:lnTo>
              </a:path>
            </a:pathLst>
          </a:custGeom>
          <a:noFill/>
          <a:ln w="2794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000875" y="2077709"/>
            <a:ext cx="2714625" cy="42920"/>
          </a:xfrm>
          <a:custGeom>
            <a:avLst/>
            <a:gdLst/>
            <a:ahLst/>
            <a:cxnLst/>
            <a:rect l="l" t="t" r="r" b="b"/>
            <a:pathLst>
              <a:path w="2714625" h="42920">
                <a:moveTo>
                  <a:pt x="0" y="42920"/>
                </a:moveTo>
                <a:lnTo>
                  <a:pt x="180975" y="34878"/>
                </a:lnTo>
                <a:lnTo>
                  <a:pt x="361950" y="27816"/>
                </a:lnTo>
                <a:lnTo>
                  <a:pt x="542925" y="21697"/>
                </a:lnTo>
                <a:lnTo>
                  <a:pt x="723900" y="16475"/>
                </a:lnTo>
                <a:lnTo>
                  <a:pt x="904875" y="12100"/>
                </a:lnTo>
                <a:lnTo>
                  <a:pt x="1085850" y="8516"/>
                </a:lnTo>
                <a:lnTo>
                  <a:pt x="1266825" y="5665"/>
                </a:lnTo>
                <a:lnTo>
                  <a:pt x="1447800" y="3481"/>
                </a:lnTo>
                <a:lnTo>
                  <a:pt x="1628775" y="1896"/>
                </a:lnTo>
                <a:lnTo>
                  <a:pt x="1809750" y="838"/>
                </a:lnTo>
                <a:lnTo>
                  <a:pt x="1990725" y="232"/>
                </a:lnTo>
                <a:lnTo>
                  <a:pt x="2171700" y="0"/>
                </a:lnTo>
                <a:lnTo>
                  <a:pt x="2352675" y="63"/>
                </a:lnTo>
                <a:lnTo>
                  <a:pt x="2533650" y="337"/>
                </a:lnTo>
                <a:lnTo>
                  <a:pt x="2714625" y="741"/>
                </a:lnTo>
              </a:path>
            </a:pathLst>
          </a:custGeom>
          <a:noFill/>
          <a:ln w="27940">
            <a:solidFill>
              <a:srgbClr val="35C7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7875" y="2030825"/>
            <a:ext cx="95250" cy="95250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05700" y="1419225"/>
            <a:ext cx="2152650" cy="247650"/>
          </a:xfrm>
          <a:prstGeom prst="roundRect">
            <a:avLst>
              <a:gd name="adj" fmla="val 12000"/>
            </a:avLst>
          </a:prstGeom>
          <a:solidFill>
            <a:srgbClr val="0C1A12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35C77F"/>
                </a:solidFill>
                <a:latin typeface="Consolas"/>
              </a:rPr>
              <a:t>Insuline : 2 000 -&gt; 2 700 / semaine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MY IMPACT: SHORTAGES PREDICTED </a:t>
            </a:r>
            <a:r>
              <a:rPr sz="1900" b="1">
                <a:solidFill>
                  <a:srgbClr val="7FF0B4"/>
                </a:solidFill>
                <a:latin typeface="Consolas"/>
              </a:rPr>
              <a:t>15 TO 30 DAYS EARLY.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Tested on 825,000 rows of data · only 6% error at one week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4350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EARLY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15–30 days of warning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Enough time to import or redistribute before shelves are empty — instead of reacting after.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28988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1388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WORKLOAD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50% less pharmacist workload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No more calling around to find medicines. Substitutes appear in one click 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3625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6025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CITIZENS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1 search instead of 5 pharmacies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People find where their medicine is available with one search on their phone.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8262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0662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MONEY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Lower import costs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Smarter planning means fewer emergency imports and less waste.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05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1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05 ·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291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76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H0–12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9675" y="2257425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33975" y="221932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435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0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H12–24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075" y="2257425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48375" y="221932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579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64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H24–40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8475" y="2257425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62775" y="2219325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2325" y="1971675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75" y="2638425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H40–48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FEASIBILITY: I WAS BUILT IN </a:t>
            </a:r>
            <a:r>
              <a:rPr sz="1900" b="1">
                <a:solidFill>
                  <a:srgbClr val="7FF0B4"/>
                </a:solidFill>
                <a:latin typeface="Consolas"/>
              </a:rPr>
              <a:t>48 HOURS</a:t>
            </a:r>
            <a:r>
              <a:rPr sz="1900" b="1">
                <a:solidFill>
                  <a:srgbClr val="E2EFE6"/>
                </a:solidFill>
                <a:latin typeface="Consolas"/>
              </a:rPr>
              <a:t> WITH FREE, OPEN TOOLS.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Team of 4 · normal laptops · cost ≈ 0 TND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HOURS 0–12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Build the data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We generate a realistic Tunisia: 24 regions, 68 medicines, 2 years of daily history.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28988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81388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HOURS 12–24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Train the AI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We train and test the prediction models. Normal laptops — no GPU needed 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3625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6025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HOURS 24–40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Build the app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API, national map, charts, alerts and explanations — connected end to end 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8262" y="5105400"/>
            <a:ext cx="2719388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0662" y="5219700"/>
            <a:ext cx="2414588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HOURS 40–48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Polish and demo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Translations, demo script, one-command launch. Total tool cost: zero 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06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1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06 · ORIGINALITY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57850" y="1543050"/>
            <a:ext cx="609600" cy="609600"/>
          </a:xfrm>
          <a:prstGeom prst="ellipse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76950" y="1314450"/>
            <a:ext cx="819150" cy="819150"/>
          </a:xfrm>
          <a:prstGeom prst="ellipse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10350" y="1485900"/>
            <a:ext cx="666750" cy="666750"/>
          </a:xfrm>
          <a:prstGeom prst="ellipse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1150" y="1714500"/>
            <a:ext cx="1447800" cy="4953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Lightning Bolt 9"/>
          <p:cNvSpPr/>
          <p:nvPr/>
        </p:nvSpPr>
        <p:spPr>
          <a:xfrm>
            <a:off x="5657850" y="2228850"/>
            <a:ext cx="152400" cy="323850"/>
          </a:xfrm>
          <a:prstGeom prst="lightningBolt">
            <a:avLst/>
          </a:prstGeom>
          <a:solidFill>
            <a:srgbClr val="D9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5400000">
            <a:off x="5429250" y="243840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5400000">
            <a:off x="5638800" y="243840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5400000">
            <a:off x="5867400" y="268605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5400000">
            <a:off x="6076950" y="268605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5400000">
            <a:off x="6305550" y="243840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5400000">
            <a:off x="6515100" y="243840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5400000">
            <a:off x="6724650" y="268605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 rot="5400000">
            <a:off x="6934200" y="2686050"/>
            <a:ext cx="209550" cy="1714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43500" y="3086100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12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MY SECRET: I AM </a:t>
            </a:r>
            <a:r>
              <a:rPr sz="1900" b="1">
                <a:solidFill>
                  <a:srgbClr val="7FF0B4"/>
                </a:solidFill>
                <a:latin typeface="Consolas"/>
              </a:rPr>
              <a:t>A WEATHER SERVICE</a:t>
            </a:r>
            <a:r>
              <a:rPr sz="1900" b="1">
                <a:solidFill>
                  <a:srgbClr val="E2EFE6"/>
                </a:solidFill>
                <a:latin typeface="Consolas"/>
              </a:rPr>
              <a:t> FOR MEDICINES.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Simple colors everyone already understands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SIMPLE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Everyone understands weather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Green, orange, red. A forecast for tomorrow. People trust what they understand 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6720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960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LOCAL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Arabic from day one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I explain myself in Arabic and French — not a translation added at the end.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005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245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SMART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No data? No problem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We built a synthetic copy of Tunisia to train and demo safely. Real data plugs in later.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07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07 · TARGET AUDIENCE &amp;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28950" y="1428750"/>
            <a:ext cx="2667000" cy="1676400"/>
          </a:xfrm>
          <a:prstGeom prst="roundRect">
            <a:avLst>
              <a:gd name="adj" fmla="val 6000"/>
            </a:avLst>
          </a:prstGeom>
          <a:solidFill>
            <a:srgbClr val="06100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4675" y="1514475"/>
            <a:ext cx="2495550" cy="1504950"/>
          </a:xfrm>
          <a:prstGeom prst="roundRect">
            <a:avLst>
              <a:gd name="adj" fmla="val 5000"/>
            </a:avLst>
          </a:prstGeom>
          <a:solidFill>
            <a:srgbClr val="12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600200"/>
            <a:ext cx="1394460" cy="66675"/>
          </a:xfrm>
          <a:prstGeom prst="roundRect">
            <a:avLst>
              <a:gd name="adj" fmla="val 50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1752600"/>
            <a:ext cx="2324100" cy="1162050"/>
          </a:xfrm>
          <a:prstGeom prst="roundRect">
            <a:avLst>
              <a:gd name="adj" fmla="val 4000"/>
            </a:avLst>
          </a:prstGeom>
          <a:solidFill>
            <a:srgbClr val="0C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8738" y="2054733"/>
            <a:ext cx="85725" cy="85725"/>
          </a:xfrm>
          <a:prstGeom prst="ellipse">
            <a:avLst/>
          </a:prstGeom>
          <a:solidFill>
            <a:srgbClr val="4CA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23004" y="1938528"/>
            <a:ext cx="85725" cy="85725"/>
          </a:xfrm>
          <a:prstGeom prst="ellipse">
            <a:avLst/>
          </a:prstGeom>
          <a:solidFill>
            <a:srgbClr val="D9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4860" y="2356866"/>
            <a:ext cx="85725" cy="85725"/>
          </a:xfrm>
          <a:prstGeom prst="ellipse">
            <a:avLst/>
          </a:prstGeom>
          <a:solidFill>
            <a:srgbClr val="D5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97630" y="2496312"/>
            <a:ext cx="85725" cy="85725"/>
          </a:xfrm>
          <a:prstGeom prst="ellipse">
            <a:avLst/>
          </a:prstGeom>
          <a:solidFill>
            <a:srgbClr val="4CA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20234" y="2147697"/>
            <a:ext cx="85725" cy="85725"/>
          </a:xfrm>
          <a:prstGeom prst="ellipse">
            <a:avLst/>
          </a:prstGeom>
          <a:solidFill>
            <a:srgbClr val="DD7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8450" y="3181350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COMMAND CENTER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0750" y="1590675"/>
            <a:ext cx="1866900" cy="1352550"/>
          </a:xfrm>
          <a:prstGeom prst="roundRect">
            <a:avLst>
              <a:gd name="adj" fmla="val 6000"/>
            </a:avLst>
          </a:prstGeom>
          <a:solidFill>
            <a:srgbClr val="06100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6475" y="1676400"/>
            <a:ext cx="1695450" cy="1181100"/>
          </a:xfrm>
          <a:prstGeom prst="roundRect">
            <a:avLst>
              <a:gd name="adj" fmla="val 5000"/>
            </a:avLst>
          </a:prstGeom>
          <a:solidFill>
            <a:srgbClr val="12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53150" y="1743075"/>
            <a:ext cx="1327785" cy="66675"/>
          </a:xfrm>
          <a:prstGeom prst="roundRect">
            <a:avLst>
              <a:gd name="adj" fmla="val 50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150" y="2486025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850" y="2371725"/>
            <a:ext cx="228600" cy="285750"/>
          </a:xfrm>
          <a:prstGeom prst="roundRect">
            <a:avLst>
              <a:gd name="adj" fmla="val 1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86550" y="2428875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53250" y="2295525"/>
            <a:ext cx="228600" cy="361950"/>
          </a:xfrm>
          <a:prstGeom prst="roundRect">
            <a:avLst>
              <a:gd name="adj" fmla="val 1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19950" y="2390775"/>
            <a:ext cx="228600" cy="266700"/>
          </a:xfrm>
          <a:prstGeom prst="roundRect">
            <a:avLst>
              <a:gd name="adj" fmla="val 1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86650" y="2238375"/>
            <a:ext cx="228600" cy="419100"/>
          </a:xfrm>
          <a:prstGeom prst="roundRect">
            <a:avLst>
              <a:gd name="adj" fmla="val 10000"/>
            </a:avLst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10250" y="3019425"/>
            <a:ext cx="2247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PHARMACY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2450" y="1419225"/>
            <a:ext cx="990600" cy="1695450"/>
          </a:xfrm>
          <a:prstGeom prst="roundRect">
            <a:avLst>
              <a:gd name="adj" fmla="val 6000"/>
            </a:avLst>
          </a:prstGeom>
          <a:solidFill>
            <a:srgbClr val="06100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58175" y="1504950"/>
            <a:ext cx="819150" cy="1524000"/>
          </a:xfrm>
          <a:prstGeom prst="roundRect">
            <a:avLst>
              <a:gd name="adj" fmla="val 5000"/>
            </a:avLst>
          </a:prstGeom>
          <a:solidFill>
            <a:srgbClr val="12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05800" y="1552575"/>
            <a:ext cx="325755" cy="57150"/>
          </a:xfrm>
          <a:prstGeom prst="roundRect">
            <a:avLst>
              <a:gd name="adj" fmla="val 50000"/>
            </a:avLst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05800" y="1666875"/>
            <a:ext cx="723900" cy="1162050"/>
          </a:xfrm>
          <a:prstGeom prst="roundRect">
            <a:avLst>
              <a:gd name="adj" fmla="val 5000"/>
            </a:avLst>
          </a:prstGeom>
          <a:solidFill>
            <a:srgbClr val="0C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Teardrop 29"/>
          <p:cNvSpPr/>
          <p:nvPr/>
        </p:nvSpPr>
        <p:spPr>
          <a:xfrm rot="13500000">
            <a:off x="8601075" y="2133600"/>
            <a:ext cx="133350" cy="133350"/>
          </a:xfrm>
          <a:prstGeom prst="teardrop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1950" y="3190875"/>
            <a:ext cx="1371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CITIZEN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I SERVE </a:t>
            </a:r>
            <a:r>
              <a:rPr sz="1900" b="1">
                <a:solidFill>
                  <a:srgbClr val="7FF0B4"/>
                </a:solidFill>
                <a:latin typeface="Consolas"/>
              </a:rPr>
              <a:t>THREE USERS:</a:t>
            </a:r>
            <a:r>
              <a:rPr sz="1900" b="1">
                <a:solidFill>
                  <a:srgbClr val="E2EFE6"/>
                </a:solidFill>
                <a:latin typeface="Consolas"/>
              </a:rPr>
              <a:t> THE CENTRAL PHARMACY, THE PHARMACIST, AND THE CITIZEN.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One platform · three portals · one shared truth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435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75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EVERY DAY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Central Pharmacy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Predict shortages, optimize imports , validate my recommendations.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6720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960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AT THE COUNTER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Pharmacies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Receive alerts, order at the right time, get substitute medicines 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2005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7245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ANY TIME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Citizens &amp; doctors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Search available medicines, get restock notifications . Free and anonymous.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08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08 · COMPETITIVE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8225" y="1409700"/>
            <a:ext cx="1123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5A392"/>
                </a:solidFill>
                <a:latin typeface="Consolas"/>
              </a:rPr>
              <a:t>EXCEL +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2175" y="1409700"/>
            <a:ext cx="1123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5A392"/>
                </a:solidFill>
                <a:latin typeface="Consolas"/>
              </a:rPr>
              <a:t>GENERIC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6125" y="1409700"/>
            <a:ext cx="1123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5A392"/>
                </a:solidFill>
                <a:latin typeface="Consolas"/>
              </a:rPr>
              <a:t>MED-FINDER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0075" y="1409700"/>
            <a:ext cx="1123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5C77F"/>
                </a:solidFill>
                <a:latin typeface="Consolas"/>
              </a:rPr>
              <a:t>SENTINELLERX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7975" y="1685925"/>
            <a:ext cx="1885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A7C2B1"/>
                </a:solidFill>
                <a:latin typeface="Segoe UI"/>
              </a:rPr>
              <a:t>Predicts shortages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5375" y="16192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9325" y="16192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16192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7225" y="1619250"/>
            <a:ext cx="1009650" cy="285750"/>
          </a:xfrm>
          <a:prstGeom prst="roundRect">
            <a:avLst>
              <a:gd name="adj" fmla="val 14000"/>
            </a:avLst>
          </a:prstGeom>
          <a:solidFill>
            <a:srgbClr val="12241A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7975" y="2028825"/>
            <a:ext cx="1885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A7C2B1"/>
                </a:solidFill>
                <a:latin typeface="Segoe UI"/>
              </a:rPr>
              <a:t>Explains its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5375" y="19621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9325" y="19621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3275" y="19621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7225" y="1962150"/>
            <a:ext cx="1009650" cy="285750"/>
          </a:xfrm>
          <a:prstGeom prst="roundRect">
            <a:avLst>
              <a:gd name="adj" fmla="val 14000"/>
            </a:avLst>
          </a:prstGeom>
          <a:solidFill>
            <a:srgbClr val="12241A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7975" y="2371725"/>
            <a:ext cx="1885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A7C2B1"/>
                </a:solidFill>
                <a:latin typeface="Segoe UI"/>
              </a:rPr>
              <a:t>French + Arabic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05375" y="23050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29325" y="23050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3275" y="23050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~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7225" y="2305050"/>
            <a:ext cx="1009650" cy="285750"/>
          </a:xfrm>
          <a:prstGeom prst="roundRect">
            <a:avLst>
              <a:gd name="adj" fmla="val 14000"/>
            </a:avLst>
          </a:prstGeom>
          <a:solidFill>
            <a:srgbClr val="12241A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7975" y="2714625"/>
            <a:ext cx="1885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A7C2B1"/>
                </a:solidFill>
                <a:latin typeface="Segoe UI"/>
              </a:rPr>
              <a:t>State + pharmacy + citizen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05375" y="26479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29325" y="26479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~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3275" y="2647950"/>
            <a:ext cx="1009650" cy="2857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>
                <a:solidFill>
                  <a:srgbClr val="85A392"/>
                </a:solidFill>
                <a:latin typeface="Consolas"/>
              </a:rPr>
              <a:t>~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7225" y="2647950"/>
            <a:ext cx="1009650" cy="285750"/>
          </a:xfrm>
          <a:prstGeom prst="roundRect">
            <a:avLst>
              <a:gd name="adj" fmla="val 14000"/>
            </a:avLst>
          </a:prstGeom>
          <a:solidFill>
            <a:srgbClr val="12241A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94335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6300" y="386715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1500" y="407670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200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9650" y="426720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20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82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06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66800" y="445770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23900" y="462915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78155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04950" y="398145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OTHERS SHOW THE PAST. </a:t>
            </a:r>
            <a:r>
              <a:rPr sz="1900" b="1">
                <a:solidFill>
                  <a:srgbClr val="7FF0B4"/>
                </a:solidFill>
                <a:latin typeface="Consolas"/>
              </a:rPr>
              <a:t>I PREDICT THE FUTURE.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4950" y="478155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Predictive + explainable + Arabic — nobody else does all three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435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75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EXCEL REPORTS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They describe last month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Numbers arrive weeks late. I warn about next month — with reasons.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720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960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BI DASHBOARDS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Beautiful charts of the past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No prediction, no explanation, no Arabic. I am the layer above them.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0050" y="5105400"/>
            <a:ext cx="3657600" cy="12192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72450" y="5219700"/>
            <a:ext cx="3352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MED-FINDER APPS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They help one patient today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I protect the whole country tomorrow — and still help at the counter.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09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09 ·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514725" y="1466850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3275" y="2133600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5275" y="1752600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19575" y="1714500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29125" y="1466850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7675" y="2133600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DETECT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9675" y="1752600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33975" y="1714500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3525" y="1466850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2075" y="2133600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EXPLAIN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4075" y="1752600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48375" y="1714500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7925" y="1466850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6475" y="2133600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PROPOSE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8475" y="1752600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62775" y="1714500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2325" y="1466850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2133600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ALERT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62875" y="1752600"/>
            <a:ext cx="323850" cy="1905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7175" y="1714500"/>
            <a:ext cx="95250" cy="9525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86725" y="1466850"/>
            <a:ext cx="590550" cy="590550"/>
          </a:xfrm>
          <a:prstGeom prst="ellipse">
            <a:avLst/>
          </a:prstGeom>
          <a:noFill/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0">
                <a:solidFill>
                  <a:srgbClr val="7FF0B4"/>
                </a:solidFill>
                <a:latin typeface="Consolas"/>
              </a:rPr>
              <a:t>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5275" y="2133600"/>
            <a:ext cx="9334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85A392"/>
                </a:solidFill>
                <a:latin typeface="Consolas"/>
              </a:rPr>
              <a:t>FIND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93370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6300" y="285750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1500" y="306705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2000" y="325755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650" y="325755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2000" y="34480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8200" y="34480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34480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0600" y="34480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6800" y="34480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3900" y="361950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719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04950" y="297180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DEMO TIME. WATCH ME SAVE </a:t>
            </a:r>
            <a:r>
              <a:rPr sz="1900" b="1">
                <a:solidFill>
                  <a:srgbClr val="7FF0B4"/>
                </a:solidFill>
                <a:latin typeface="Consolas"/>
              </a:rPr>
              <a:t>INSULIN</a:t>
            </a:r>
            <a:r>
              <a:rPr sz="1900" b="1">
                <a:solidFill>
                  <a:srgbClr val="E2EFE6"/>
                </a:solidFill>
                <a:latin typeface="Consolas"/>
              </a:rPr>
              <a:t> — 35 DAYS BEFORE THE CRISIS.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4950" y="377190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The perfect scenario · from data to patient in 6 steps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4350" y="4095750"/>
            <a:ext cx="3657600" cy="10668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6750" y="4210050"/>
            <a:ext cx="335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STEP 1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Data goes in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Stocks, sales and supplier data are injected into the platform.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67200" y="4095750"/>
            <a:ext cx="3657600" cy="10668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9600" y="4210050"/>
            <a:ext cx="335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STEP 2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I detect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Risk of insulin shortage in 35 days 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0050" y="4095750"/>
            <a:ext cx="3657600" cy="10668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72450" y="4210050"/>
            <a:ext cx="335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STEP 3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I explain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Consumption +18% · supplier late 12 days · central stock low.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4350" y="5257800"/>
            <a:ext cx="3657600" cy="10668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50" y="5372100"/>
            <a:ext cx="335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STEP 4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I propose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Order 15,000 units before July 28.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67200" y="5257800"/>
            <a:ext cx="3657600" cy="10668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9600" y="5372100"/>
            <a:ext cx="335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STEP 5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The pharmacist acts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Local alert + available substitutes , ready to validate.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0050" y="5257800"/>
            <a:ext cx="3657600" cy="1066800"/>
          </a:xfrm>
          <a:prstGeom prst="roundRect">
            <a:avLst>
              <a:gd name="adj" fmla="val 8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2450" y="5372100"/>
            <a:ext cx="335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50" b="1">
                <a:solidFill>
                  <a:srgbClr val="35C77F"/>
                </a:solidFill>
                <a:latin typeface="Consolas"/>
              </a:rPr>
              <a:t>STEP 6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E2EFE6"/>
                </a:solidFill>
                <a:latin typeface="Segoe UI"/>
              </a:rPr>
              <a:t>The patient finds it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A7C2B1"/>
                </a:solidFill>
                <a:latin typeface="Segoe UI"/>
              </a:rPr>
              <a:t>"Where is my medicine?" — open pharmacies on the map , 2 km away.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10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2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2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1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12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12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57150"/>
            <a:ext cx="12039600" cy="6743700"/>
          </a:xfrm>
          <a:prstGeom prst="roundRect">
            <a:avLst>
              <a:gd name="adj" fmla="val 2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323850"/>
            <a:ext cx="11163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5C77F"/>
                </a:solidFill>
                <a:latin typeface="Consolas"/>
              </a:rPr>
              <a:t>10 ·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" y="533400"/>
            <a:ext cx="1116330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885447" y="1727033"/>
            <a:ext cx="501316" cy="1784684"/>
          </a:xfrm>
          <a:custGeom>
            <a:avLst/>
            <a:gdLst/>
            <a:ahLst/>
            <a:cxnLst/>
            <a:rect l="l" t="t" r="r" b="b"/>
            <a:pathLst>
              <a:path w="501316" h="1784684">
                <a:moveTo>
                  <a:pt x="210553" y="0"/>
                </a:moveTo>
                <a:lnTo>
                  <a:pt x="441158" y="70184"/>
                </a:lnTo>
                <a:lnTo>
                  <a:pt x="501316" y="250658"/>
                </a:lnTo>
                <a:lnTo>
                  <a:pt x="381000" y="421105"/>
                </a:lnTo>
                <a:lnTo>
                  <a:pt x="441158" y="581526"/>
                </a:lnTo>
                <a:lnTo>
                  <a:pt x="340895" y="762000"/>
                </a:lnTo>
                <a:lnTo>
                  <a:pt x="401053" y="992605"/>
                </a:lnTo>
                <a:lnTo>
                  <a:pt x="310816" y="1233237"/>
                </a:lnTo>
                <a:lnTo>
                  <a:pt x="350921" y="1443789"/>
                </a:lnTo>
                <a:lnTo>
                  <a:pt x="240632" y="1704474"/>
                </a:lnTo>
                <a:lnTo>
                  <a:pt x="150395" y="1784684"/>
                </a:lnTo>
                <a:lnTo>
                  <a:pt x="80211" y="1594184"/>
                </a:lnTo>
                <a:lnTo>
                  <a:pt x="120316" y="1353553"/>
                </a:lnTo>
                <a:lnTo>
                  <a:pt x="40106" y="1122947"/>
                </a:lnTo>
                <a:lnTo>
                  <a:pt x="100264" y="892342"/>
                </a:lnTo>
                <a:lnTo>
                  <a:pt x="20053" y="681789"/>
                </a:lnTo>
                <a:lnTo>
                  <a:pt x="80211" y="461210"/>
                </a:lnTo>
                <a:lnTo>
                  <a:pt x="0" y="270710"/>
                </a:lnTo>
                <a:lnTo>
                  <a:pt x="90237" y="90237"/>
                </a:lnTo>
                <a:close/>
              </a:path>
            </a:pathLst>
          </a:custGeom>
          <a:solidFill>
            <a:srgbClr val="12241A"/>
          </a:solidFill>
          <a:ln w="254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86237" y="1971675"/>
            <a:ext cx="123825" cy="123825"/>
          </a:xfrm>
          <a:prstGeom prst="ellipse">
            <a:avLst/>
          </a:prstGeom>
          <a:solidFill>
            <a:srgbClr val="4CA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7687" y="19431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7C2B1"/>
                </a:solidFill>
                <a:latin typeface="Consolas"/>
              </a:rPr>
              <a:t>Tunis</a:t>
            </a:r>
          </a:p>
        </p:txBody>
      </p:sp>
      <p:sp>
        <p:nvSpPr>
          <p:cNvPr id="9" name="Oval 8"/>
          <p:cNvSpPr/>
          <p:nvPr/>
        </p:nvSpPr>
        <p:spPr>
          <a:xfrm>
            <a:off x="6201276" y="2543175"/>
            <a:ext cx="123825" cy="123825"/>
          </a:xfrm>
          <a:prstGeom prst="ellipse">
            <a:avLst/>
          </a:prstGeom>
          <a:solidFill>
            <a:srgbClr val="DD7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2726" y="2514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7C2B1"/>
                </a:solidFill>
                <a:latin typeface="Consolas"/>
              </a:rPr>
              <a:t>Sfax</a:t>
            </a:r>
          </a:p>
        </p:txBody>
      </p:sp>
      <p:sp>
        <p:nvSpPr>
          <p:cNvPr id="11" name="Oval 10"/>
          <p:cNvSpPr/>
          <p:nvPr/>
        </p:nvSpPr>
        <p:spPr>
          <a:xfrm>
            <a:off x="6005763" y="2924175"/>
            <a:ext cx="123825" cy="123825"/>
          </a:xfrm>
          <a:prstGeom prst="ellipse">
            <a:avLst/>
          </a:prstGeom>
          <a:solidFill>
            <a:srgbClr val="D5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7213" y="28956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7C2B1"/>
                </a:solidFill>
                <a:latin typeface="Consolas"/>
              </a:rPr>
              <a:t>Gabès</a:t>
            </a:r>
          </a:p>
        </p:txBody>
      </p:sp>
      <p:sp>
        <p:nvSpPr>
          <p:cNvPr id="13" name="Teardrop 12"/>
          <p:cNvSpPr/>
          <p:nvPr/>
        </p:nvSpPr>
        <p:spPr>
          <a:xfrm rot="13500000">
            <a:off x="6126079" y="1800225"/>
            <a:ext cx="190500" cy="190500"/>
          </a:xfrm>
          <a:prstGeom prst="teardrop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648200"/>
            <a:ext cx="28575" cy="133350"/>
          </a:xfrm>
          <a:prstGeom prst="rect">
            <a:avLst/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6300" y="4572000"/>
            <a:ext cx="104775" cy="104775"/>
          </a:xfrm>
          <a:prstGeom prst="ellipse">
            <a:avLst/>
          </a:prstGeom>
          <a:solidFill>
            <a:srgbClr val="35C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" y="4781550"/>
            <a:ext cx="723900" cy="552450"/>
          </a:xfrm>
          <a:prstGeom prst="roundRect">
            <a:avLst>
              <a:gd name="adj" fmla="val 24000"/>
            </a:avLst>
          </a:prstGeom>
          <a:solidFill>
            <a:srgbClr val="12241A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000" y="497205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9650" y="4972050"/>
            <a:ext cx="114300" cy="114300"/>
          </a:xfrm>
          <a:prstGeom prst="ellipse">
            <a:avLst/>
          </a:prstGeom>
          <a:solidFill>
            <a:srgbClr val="7FF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51625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200" y="51625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1625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0600" y="51625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6800" y="5162550"/>
            <a:ext cx="47625" cy="38100"/>
          </a:xfrm>
          <a:prstGeom prst="roundRect">
            <a:avLst>
              <a:gd name="adj" fmla="val 50000"/>
            </a:avLst>
          </a:prstGeom>
          <a:solidFill>
            <a:srgbClr val="85A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3900" y="5334000"/>
            <a:ext cx="419100" cy="114300"/>
          </a:xfrm>
          <a:prstGeom prst="roundRect">
            <a:avLst>
              <a:gd name="adj" fmla="val 30000"/>
            </a:avLst>
          </a:prstGeom>
          <a:solidFill>
            <a:srgbClr val="0C1A12"/>
          </a:solidFill>
          <a:ln w="1905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5A392"/>
                </a:solidFill>
                <a:latin typeface="Consolas"/>
              </a:rPr>
              <a:t>SRX-01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4950" y="4686300"/>
            <a:ext cx="10172700" cy="704850"/>
          </a:xfrm>
          <a:prstGeom prst="roundRect">
            <a:avLst>
              <a:gd name="adj" fmla="val 16000"/>
            </a:avLst>
          </a:prstGeom>
          <a:solidFill>
            <a:srgbClr val="12241A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square"/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2EFE6"/>
                </a:solidFill>
                <a:latin typeface="Consolas"/>
              </a:rPr>
              <a:t>GIVE ME </a:t>
            </a:r>
            <a:r>
              <a:rPr sz="1900" b="1">
                <a:solidFill>
                  <a:srgbClr val="7FF0B4"/>
                </a:solidFill>
                <a:latin typeface="Consolas"/>
              </a:rPr>
              <a:t>ONE REGION AND ONE FLU SEASON.</a:t>
            </a:r>
            <a:r>
              <a:rPr sz="1900" b="1">
                <a:solidFill>
                  <a:srgbClr val="E2EFE6"/>
                </a:solidFill>
                <a:latin typeface="Consolas"/>
              </a:rPr>
              <a:t> I WILL PROVE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4950" y="5486400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5A392"/>
                </a:solidFill>
                <a:latin typeface="Consolas"/>
              </a:rPr>
              <a:t>Pilot: Grand Tunis · 10–20 pharmacies + Central Pharmacy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" y="5715000"/>
            <a:ext cx="3644900" cy="419100"/>
          </a:xfrm>
          <a:prstGeom prst="roundRect">
            <a:avLst>
              <a:gd name="adj" fmla="val 40000"/>
            </a:avLst>
          </a:prstGeom>
          <a:solidFill>
            <a:srgbClr val="12241A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FF0B4"/>
                </a:solidFill>
                <a:latin typeface="Consolas"/>
              </a:rPr>
              <a:t>15–30 days of early warning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3550" y="5715000"/>
            <a:ext cx="3644900" cy="419100"/>
          </a:xfrm>
          <a:prstGeom prst="roundRect">
            <a:avLst>
              <a:gd name="adj" fmla="val 40000"/>
            </a:avLst>
          </a:prstGeom>
          <a:solidFill>
            <a:srgbClr val="12241A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FF0B4"/>
                </a:solidFill>
                <a:latin typeface="Consolas"/>
              </a:rPr>
              <a:t>7 of 10 shortages caught in advance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2750" y="5715000"/>
            <a:ext cx="3644900" cy="419100"/>
          </a:xfrm>
          <a:prstGeom prst="roundRect">
            <a:avLst>
              <a:gd name="adj" fmla="val 40000"/>
            </a:avLst>
          </a:prstGeom>
          <a:solidFill>
            <a:srgbClr val="12241A"/>
          </a:solidFill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7FF0B4"/>
                </a:solidFill>
                <a:latin typeface="Consolas"/>
              </a:rPr>
              <a:t>20 actions validated by the Central Pharmacy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350" y="65341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2650" y="65341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5A392"/>
                </a:solidFill>
                <a:latin typeface="Consolas"/>
              </a:rPr>
              <a:t>11 / 11</a:t>
            </a:r>
          </a:p>
        </p:txBody>
      </p:sp>
    </p:spTree>
  </p:cSld>
  <p:clrMapOvr>
    <a:masterClrMapping/>
  </p:clrMapOvr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2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2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15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5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5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14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