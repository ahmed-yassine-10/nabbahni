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Hello. I am SentinelleRx. I predict medicine shortages before patients suffer.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problem. Patients walk from pharmacy to pharmacy. Nobody sees the shortage coming. The current system is reactive. SentinelleRx makes it predictive.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solution. Predict, explain, act early — like a weather forecast for medicines. Five modules: data hub, demand AI, shortage AI, explainable AI, substitution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am careful. I never learn the wrong lesson from bad data. Most systems give only a score. I explain the cause, in French and in Arabic.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impact. Shortages predicted fifteen to thirty days early. Fifty percent less pharmacist workload. One search instead of five pharmacies. And lower import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Feasibility. I was built in forty-eight hours with free, open tools, by a team of four, on normal laptops.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secret: I am a weather service for medicines. Green, orange, red — colors everyone already understands. That is how you get a health system to trust an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serve three users: the Central Pharmacy, the pharmacist, and the citizen. Each region gets a risk level — Tunis green, Sfax orange, Gabès 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 show the past. I predict the future. Most solutions worldwide only observe the shortage. I predict it, explain the cause, and propose an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time. Watch me save insulin, thirty-five days before the crisis. Data goes in. I detect the risk. I explain the cause. I propose an order. The pharmacist acts. The patient finds the medicine.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me one region and one flu season, and I will prove it. Healthcare deserves prediction, not reaction.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640080"/>
            <a:ext cx="10881360" cy="557784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2344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5C77F"/>
                </a:solidFill>
                <a:latin typeface="Consolas"/>
              </a:rPr>
              <a:t>SENTINELLERX  // 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784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E2EFE6"/>
                </a:solidFill>
                <a:latin typeface="Segoe UI"/>
              </a:rPr>
              <a:t>SentinelleRx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71800"/>
            <a:ext cx="9784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7FF0B4"/>
                </a:solidFill>
                <a:latin typeface="Segoe UI"/>
              </a:rPr>
              <a:t>Predicting medicine shortages </a:t>
            </a:r>
          </a:p>
          <a:p>
            <a:pPr algn="l">
              <a:lnSpc>
                <a:spcPct val="110000"/>
              </a:lnSpc>
            </a:pPr>
            <a:r>
              <a:rPr sz="2700" b="1">
                <a:solidFill>
                  <a:srgbClr val="7FF0B4"/>
                </a:solidFill>
                <a:latin typeface="Segoe UI"/>
              </a:rPr>
              <a:t>before patients suffer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20624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7C2B1"/>
                </a:solidFill>
                <a:latin typeface="Segoe UI"/>
              </a:rPr>
              <a:t>“Don't detect shortages. Prevent them.”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8006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5A392"/>
                </a:solidFill>
                <a:latin typeface="Consolas"/>
              </a:rPr>
              <a:t>LA MÉTÉO DES MÉDICAMENTS DE TUNISIE  ·  نشرة توقعات الأدوية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5257800"/>
            <a:ext cx="5120640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ctr"/>
            <a:r>
              <a:rPr sz="1100">
                <a:solidFill>
                  <a:srgbClr val="35C77F"/>
                </a:solidFill>
                <a:latin typeface="Consolas"/>
              </a:rPr>
              <a:t>Hackathon: Automate or Die — Healthcare &amp; Pharma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5230368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0">
                <a:solidFill>
                  <a:srgbClr val="85A392"/>
                </a:solidFill>
                <a:latin typeface="Segoe UI"/>
              </a:rPr>
              <a:t>Ahmed Yassine Belhadj Hammouda · Ali Malamelli</a:t>
            </a:r>
          </a:p>
          <a:p>
            <a:pPr algn="r">
              <a:lnSpc>
                <a:spcPct val="120000"/>
              </a:lnSpc>
            </a:pPr>
            <a:r>
              <a:rPr sz="1050" b="0">
                <a:solidFill>
                  <a:srgbClr val="85A392"/>
                </a:solidFill>
                <a:latin typeface="Segoe UI"/>
              </a:rPr>
              <a:t>Hana Mechi · Sarra Mechi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19456"/>
            <a:ext cx="11460175" cy="6199632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5C77F"/>
                </a:solidFill>
                <a:latin typeface="Consolas"/>
              </a:rPr>
              <a:t>01 ·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94944"/>
            <a:ext cx="1088136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5156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>
                <a:solidFill>
                  <a:srgbClr val="35C77F"/>
                </a:solidFill>
                <a:latin typeface="Consolas"/>
              </a:rPr>
              <a:t>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014984"/>
            <a:ext cx="10104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2EFE6"/>
                </a:solidFill>
                <a:latin typeface="Consolas"/>
              </a:rPr>
              <a:t>THE PROBLEM: PATIENTS WALK FROM PHARMACY TO PHARMACY. </a:t>
            </a:r>
            <a:r>
              <a:rPr sz="2600" b="1">
                <a:solidFill>
                  <a:srgbClr val="7FF0B4"/>
                </a:solidFill>
                <a:latin typeface="Consolas"/>
              </a:rPr>
              <a:t>NOBODY SEES THE SHORTAGE COMING.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892808"/>
            <a:ext cx="10104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5A392"/>
                </a:solidFill>
                <a:latin typeface="Consolas"/>
              </a:rPr>
              <a:t>Patient → pharmacy → out of stock → search again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88920"/>
            <a:ext cx="258318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953512"/>
            <a:ext cx="21808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PATIENTS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They search, pharmacy after pharmacy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A sick person visits 3, 4, 5 pharmacies to find one medicine. Sometimes they give 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4428" y="2788920"/>
            <a:ext cx="258318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5596" y="2953512"/>
            <a:ext cx="21808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PHARMACIES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They find out too late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The shelf is already empty when the shortage is discovered. Imports take 4 to 12 weeks.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788920"/>
            <a:ext cx="258318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2953512"/>
            <a:ext cx="21808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CENTRAL PHARMACY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It reacts after the crisis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Reports arrive weeks late. When the problem is visible, the time to act is already gone.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6548" y="2788920"/>
            <a:ext cx="258318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57716" y="2953512"/>
            <a:ext cx="21808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OUR QUESTION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Can we see it coming?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What if we could predict shortages weeks before they happen — and act early?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SENTINELLERX  ·  LA MÉTÉO DES MÉDICAMENTS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3825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19456"/>
            <a:ext cx="11460175" cy="6199632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5C77F"/>
                </a:solidFill>
                <a:latin typeface="Consolas"/>
              </a:rPr>
              <a:t>02 · 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94944"/>
            <a:ext cx="1088136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5156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>
                <a:solidFill>
                  <a:srgbClr val="35C77F"/>
                </a:solidFill>
                <a:latin typeface="Consolas"/>
              </a:rPr>
              <a:t>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014984"/>
            <a:ext cx="10104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2EFE6"/>
                </a:solidFill>
                <a:latin typeface="Consolas"/>
              </a:rPr>
              <a:t>MY SOLUTION: </a:t>
            </a:r>
            <a:r>
              <a:rPr sz="2600" b="1">
                <a:solidFill>
                  <a:srgbClr val="7FF0B4"/>
                </a:solidFill>
                <a:latin typeface="Consolas"/>
              </a:rPr>
              <a:t>PREDICT. EXPLAIN. ACT EARLY.</a:t>
            </a:r>
            <a:r>
              <a:rPr sz="2600" b="1">
                <a:solidFill>
                  <a:srgbClr val="E2EFE6"/>
                </a:solidFill>
                <a:latin typeface="Consolas"/>
              </a:rPr>
              <a:t> LIKE A WEATHER FORECAST FOR MEDICINES.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892808"/>
            <a:ext cx="10104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5A392"/>
                </a:solidFill>
                <a:latin typeface="Consolas"/>
              </a:rPr>
              <a:t>Stocks + sales + external signals → AI prediction → human validation →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95728"/>
            <a:ext cx="1883664" cy="51206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FF0B4"/>
                </a:solidFill>
                <a:latin typeface="Consolas"/>
              </a:rPr>
              <a:t>Data Hub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96896" y="2569464"/>
            <a:ext cx="219456" cy="164592"/>
          </a:xfrm>
          <a:prstGeom prst="rightArrow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71216" y="2395728"/>
            <a:ext cx="1883664" cy="51206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FF0B4"/>
                </a:solidFill>
                <a:latin typeface="Consolas"/>
              </a:rPr>
              <a:t>Demand AI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09744" y="2569464"/>
            <a:ext cx="219456" cy="164592"/>
          </a:xfrm>
          <a:prstGeom prst="rightArrow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84064" y="2395728"/>
            <a:ext cx="1883664" cy="51206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FF0B4"/>
                </a:solidFill>
                <a:latin typeface="Consolas"/>
              </a:rPr>
              <a:t>Shortage AI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22592" y="2569464"/>
            <a:ext cx="219456" cy="164592"/>
          </a:xfrm>
          <a:prstGeom prst="rightArrow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96912" y="2395728"/>
            <a:ext cx="1883664" cy="51206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FF0B4"/>
                </a:solidFill>
                <a:latin typeface="Consolas"/>
              </a:rPr>
              <a:t>Explain AI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35440" y="2569464"/>
            <a:ext cx="219456" cy="164592"/>
          </a:xfrm>
          <a:prstGeom prst="rightArrow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09760" y="2395728"/>
            <a:ext cx="1883664" cy="51206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FF0B4"/>
                </a:solidFill>
                <a:latin typeface="Consolas"/>
              </a:rPr>
              <a:t>Decide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154680"/>
            <a:ext cx="258318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319272"/>
            <a:ext cx="21808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MODULE 1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Data Hub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Pharmacy stocks, daily sales, PCT central stock, supplier delays, weather and epidemics — in one place.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4428" y="3154680"/>
            <a:ext cx="258318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5596" y="3319272"/>
            <a:ext cx="21808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MODULES 2–3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Demand AI + Shortage AI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Insulin: 2,000 → 2,700 units in 3 weeks. Euthyrox: 87% shortage risk, around 17 August.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154680"/>
            <a:ext cx="258318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3319272"/>
            <a:ext cx="21808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MODULE 4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Explainable AI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The causes: consumption +21%, supplier late, central stock low, 3 similar shortages before.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6548" y="3154680"/>
            <a:ext cx="258318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7716" y="3319272"/>
            <a:ext cx="21808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MODULE 5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Substitution engine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Medicine unavailable? Alternatives A, B, C from WHO ATC/DDD rules. The pharmacist validates.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SENTINELLERX  ·  LA MÉTÉO DES MÉDICAMENTS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3825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19456"/>
            <a:ext cx="11460175" cy="6199632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5C77F"/>
                </a:solidFill>
                <a:latin typeface="Consolas"/>
              </a:rPr>
              <a:t>03 · INNOVATION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94944"/>
            <a:ext cx="1088136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5156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>
                <a:solidFill>
                  <a:srgbClr val="35C77F"/>
                </a:solidFill>
                <a:latin typeface="Consolas"/>
              </a:rPr>
              <a:t>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014984"/>
            <a:ext cx="10104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2EFE6"/>
                </a:solidFill>
                <a:latin typeface="Consolas"/>
              </a:rPr>
              <a:t>I AM CAREFUL. I NEVER </a:t>
            </a:r>
            <a:r>
              <a:rPr sz="2600" b="1">
                <a:solidFill>
                  <a:srgbClr val="7FF0B4"/>
                </a:solidFill>
                <a:latin typeface="Consolas"/>
              </a:rPr>
              <a:t>LEARN THE WRONG LESSON</a:t>
            </a:r>
            <a:r>
              <a:rPr sz="2600" b="1">
                <a:solidFill>
                  <a:srgbClr val="E2EFE6"/>
                </a:solidFill>
                <a:latin typeface="Consolas"/>
              </a:rPr>
              <a:t> FROM BAD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892808"/>
            <a:ext cx="10104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5A392"/>
                </a:solidFill>
                <a:latin typeface="Consolas"/>
              </a:rPr>
              <a:t>Explainable AI · no black box · humans always in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77440"/>
            <a:ext cx="10881360" cy="65836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/>
          <a:lstStyle/>
          <a:p>
            <a:pPr algn="ctr"/>
            <a:r>
              <a:rPr sz="1250" b="1">
                <a:solidFill>
                  <a:srgbClr val="7FF0B4"/>
                </a:solidFill>
                <a:latin typeface="Consolas"/>
              </a:rPr>
              <a:t>Euthyrox — risque de rupture 87 %   </a:t>
            </a:r>
            <a:r>
              <a:rPr sz="1250" b="0">
                <a:solidFill>
                  <a:srgbClr val="A7C2B1"/>
                </a:solidFill>
                <a:latin typeface="Consolas"/>
              </a:rPr>
              <a:t>consommation +21 %  ·  retard fournisseur 12 j  ·  stock central faible   </a:t>
            </a:r>
            <a:r>
              <a:rPr sz="1250" b="0">
                <a:solidFill>
                  <a:srgbClr val="85A392"/>
                </a:solidFill>
                <a:latin typeface="Consolas"/>
              </a:rPr>
              <a:t>ارتفاع الطلب خلال ٣٠ يومًا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258318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456432"/>
            <a:ext cx="21808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CLEVER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I never learn the wrong lesson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When a medicine is out of stock, sales look low. I correct this — so I never believe demand fell during a shortage.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4428" y="3291840"/>
            <a:ext cx="258318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5596" y="3456432"/>
            <a:ext cx="21808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HONEST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I give a range, not one number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Best case, expected, worst case. You always see how sure I am — not just a guess.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3291840"/>
            <a:ext cx="258318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3456432"/>
            <a:ext cx="21808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FAST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My reasons are ready in advance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I write my explanations the moment I compute a prediction — reading them is instant.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6548" y="3291840"/>
            <a:ext cx="258318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7716" y="3456432"/>
            <a:ext cx="21808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SAFE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One rule can overrule me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An essential medicine with less than 5 days of stock is always CRITICAL. No exception.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SENTINELLERX  ·  LA MÉTÉO DES MÉDICAMENTS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3825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19456"/>
            <a:ext cx="11460175" cy="6199632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5C77F"/>
                </a:solidFill>
                <a:latin typeface="Consolas"/>
              </a:rPr>
              <a:t>04 ·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94944"/>
            <a:ext cx="1088136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5156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>
                <a:solidFill>
                  <a:srgbClr val="35C77F"/>
                </a:solidFill>
                <a:latin typeface="Consolas"/>
              </a:rPr>
              <a:t>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014984"/>
            <a:ext cx="10104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2EFE6"/>
                </a:solidFill>
                <a:latin typeface="Consolas"/>
              </a:rPr>
              <a:t>MY IMPACT: SHORTAGES PREDICTED </a:t>
            </a:r>
            <a:r>
              <a:rPr sz="2600" b="1">
                <a:solidFill>
                  <a:srgbClr val="7FF0B4"/>
                </a:solidFill>
                <a:latin typeface="Consolas"/>
              </a:rPr>
              <a:t>15 TO 30 DAYS EARLY.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892808"/>
            <a:ext cx="10104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5A392"/>
                </a:solidFill>
                <a:latin typeface="Consolas"/>
              </a:rPr>
              <a:t>Tested on 825,000 rows of data · only 6% error at one week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77440"/>
            <a:ext cx="2606040" cy="896112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468880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7FF0B4"/>
                </a:solidFill>
                <a:latin typeface="Segoe UI"/>
              </a:rPr>
              <a:t>15–30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926080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5A392"/>
                </a:solidFill>
                <a:latin typeface="Consolas"/>
              </a:rPr>
              <a:t>DAYS EARLY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2377440"/>
            <a:ext cx="2606040" cy="896112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6744" y="2468880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7FF0B4"/>
                </a:solidFill>
                <a:latin typeface="Segoe UI"/>
              </a:rPr>
              <a:t>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2926080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5A392"/>
                </a:solidFill>
                <a:latin typeface="Consolas"/>
              </a:rPr>
              <a:t>LESS WORKLOAD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2377440"/>
            <a:ext cx="2606040" cy="896112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468880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7FF0B4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926080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5A392"/>
                </a:solidFill>
                <a:latin typeface="Consolas"/>
              </a:rPr>
              <a:t>SEARCH, NOT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9992" y="2377440"/>
            <a:ext cx="2606040" cy="896112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468880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DD7A38"/>
                </a:solidFill>
                <a:latin typeface="Segoe UI"/>
              </a:rPr>
              <a:t>87%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926080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5A392"/>
                </a:solidFill>
                <a:latin typeface="Consolas"/>
              </a:rPr>
              <a:t>RISK DETECTED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520440"/>
            <a:ext cx="258318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685032"/>
            <a:ext cx="21808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EARLY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15–30 days of warning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Enough time to import or redistribute before shelves are empty — instead of reacting after.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4428" y="3520440"/>
            <a:ext cx="258318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5596" y="3685032"/>
            <a:ext cx="21808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WORKLOAD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50% less pharmacist workload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No more calling around to find medicines. Substitutes appear in one click.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3520440"/>
            <a:ext cx="258318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3685032"/>
            <a:ext cx="21808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CITIZENS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1 search instead of 5 pharmacies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People find where their medicine is available with one search on their phone.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56548" y="3520440"/>
            <a:ext cx="258318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7716" y="3685032"/>
            <a:ext cx="21808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MONEY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Lower import costs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Smarter planning means fewer emergency imports and less waste.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SENTINELLERX  ·  LA MÉTÉO DES MÉDICAMENTS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3825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19456"/>
            <a:ext cx="11460175" cy="6199632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5C77F"/>
                </a:solidFill>
                <a:latin typeface="Consolas"/>
              </a:rPr>
              <a:t>05 · FEASIBILITY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94944"/>
            <a:ext cx="1088136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5156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>
                <a:solidFill>
                  <a:srgbClr val="35C77F"/>
                </a:solidFill>
                <a:latin typeface="Consolas"/>
              </a:rPr>
              <a:t>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014984"/>
            <a:ext cx="10104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2EFE6"/>
                </a:solidFill>
                <a:latin typeface="Consolas"/>
              </a:rPr>
              <a:t>FEASIBILITY: I WAS BUILT IN </a:t>
            </a:r>
            <a:r>
              <a:rPr sz="2600" b="1">
                <a:solidFill>
                  <a:srgbClr val="7FF0B4"/>
                </a:solidFill>
                <a:latin typeface="Consolas"/>
              </a:rPr>
              <a:t>48 HOURS</a:t>
            </a:r>
            <a:r>
              <a:rPr sz="2600" b="1">
                <a:solidFill>
                  <a:srgbClr val="E2EFE6"/>
                </a:solidFill>
                <a:latin typeface="Consolas"/>
              </a:rPr>
              <a:t> WITH FREE, OPEN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892808"/>
            <a:ext cx="10104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5A392"/>
                </a:solidFill>
                <a:latin typeface="Consolas"/>
              </a:rPr>
              <a:t>Team of 4 · normal laptops · cost ≈ 0 TND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88920"/>
            <a:ext cx="258318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953512"/>
            <a:ext cx="21808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HOURS 0–12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Build the data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A realistic Tunisia: 24 regions, 68 medicines, 2 years of daily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4428" y="2788920"/>
            <a:ext cx="258318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5596" y="2953512"/>
            <a:ext cx="21808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HOURS 12–24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Train the AI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Train and test the prediction models. Normal laptops — no GPU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788920"/>
            <a:ext cx="258318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2953512"/>
            <a:ext cx="21808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HOURS 24–40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Build the app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API, national map, charts, alerts and explanations — connected end to 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6548" y="2788920"/>
            <a:ext cx="258318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57716" y="2953512"/>
            <a:ext cx="218084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HOURS 40–48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Polish and demo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Translations, demo script, one-command launch. Total tool cost: zero.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SENTINELLERX  ·  LA MÉTÉO DES MÉDICAMENTS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3825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19456"/>
            <a:ext cx="11460175" cy="6199632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5C77F"/>
                </a:solidFill>
                <a:latin typeface="Consolas"/>
              </a:rPr>
              <a:t>06 · ORIGINALITY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94944"/>
            <a:ext cx="1088136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5156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>
                <a:solidFill>
                  <a:srgbClr val="35C77F"/>
                </a:solidFill>
                <a:latin typeface="Consolas"/>
              </a:rPr>
              <a:t>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014984"/>
            <a:ext cx="10104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2EFE6"/>
                </a:solidFill>
                <a:latin typeface="Consolas"/>
              </a:rPr>
              <a:t>MY SECRET: I AM </a:t>
            </a:r>
            <a:r>
              <a:rPr sz="2600" b="1">
                <a:solidFill>
                  <a:srgbClr val="7FF0B4"/>
                </a:solidFill>
                <a:latin typeface="Consolas"/>
              </a:rPr>
              <a:t>A WEATHER SERVICE</a:t>
            </a:r>
            <a:r>
              <a:rPr sz="2600" b="1">
                <a:solidFill>
                  <a:srgbClr val="E2EFE6"/>
                </a:solidFill>
                <a:latin typeface="Consolas"/>
              </a:rPr>
              <a:t> FOR MEDICINES.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892808"/>
            <a:ext cx="10104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5A392"/>
                </a:solidFill>
                <a:latin typeface="Consolas"/>
              </a:rPr>
              <a:t>Simple colors everyone already understands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88920"/>
            <a:ext cx="350520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953512"/>
            <a:ext cx="310286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SIMPLE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Everyone understands weather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Green, orange, red. A forecast for tomorrow. People trust what they understand.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2788920"/>
            <a:ext cx="350520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7616" y="2953512"/>
            <a:ext cx="310286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LOCAL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Arabic from day one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I explain myself in Arabic and French — not a translation added at the 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4528" y="2788920"/>
            <a:ext cx="350520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5696" y="2953512"/>
            <a:ext cx="310286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SMART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No data? No problem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We built a synthetic copy of Tunisia to train and demo safely. Real data plugs in later.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SENTINELLERX  ·  LA MÉTÉO DES MÉDICAMENTS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3825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19456"/>
            <a:ext cx="11460175" cy="6199632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5C77F"/>
                </a:solidFill>
                <a:latin typeface="Consolas"/>
              </a:rPr>
              <a:t>07 · TARGET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94944"/>
            <a:ext cx="1088136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5156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>
                <a:solidFill>
                  <a:srgbClr val="35C77F"/>
                </a:solidFill>
                <a:latin typeface="Consolas"/>
              </a:rPr>
              <a:t>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014984"/>
            <a:ext cx="10104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2EFE6"/>
                </a:solidFill>
                <a:latin typeface="Consolas"/>
              </a:rPr>
              <a:t>I SERVE </a:t>
            </a:r>
            <a:r>
              <a:rPr sz="2600" b="1">
                <a:solidFill>
                  <a:srgbClr val="7FF0B4"/>
                </a:solidFill>
                <a:latin typeface="Consolas"/>
              </a:rPr>
              <a:t>THREE USERS:</a:t>
            </a:r>
            <a:r>
              <a:rPr sz="2600" b="1">
                <a:solidFill>
                  <a:srgbClr val="E2EFE6"/>
                </a:solidFill>
                <a:latin typeface="Consolas"/>
              </a:rPr>
              <a:t> THE CENTRAL PHARMACY, THE PHARMACIST, AND THE CITIZEN.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892808"/>
            <a:ext cx="10104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5A392"/>
                </a:solidFill>
                <a:latin typeface="Consolas"/>
              </a:rPr>
              <a:t>PCT Command Center · Pharmacy dashboard · Citizen mobile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77440"/>
            <a:ext cx="3502152" cy="56692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551176"/>
            <a:ext cx="219456" cy="219456"/>
          </a:xfrm>
          <a:prstGeom prst="ellipse">
            <a:avLst/>
          </a:prstGeom>
          <a:solidFill>
            <a:srgbClr val="4CA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523744"/>
            <a:ext cx="27706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EFE6"/>
                </a:solidFill>
                <a:latin typeface="Consolas"/>
              </a:rPr>
              <a:t>Tunis  —  GREEN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2377440"/>
            <a:ext cx="3502152" cy="56692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2856" y="2551176"/>
            <a:ext cx="219456" cy="219456"/>
          </a:xfrm>
          <a:prstGeom prst="ellipse">
            <a:avLst/>
          </a:prstGeom>
          <a:solidFill>
            <a:srgbClr val="DD7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0328" y="2523744"/>
            <a:ext cx="27706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EFE6"/>
                </a:solidFill>
                <a:latin typeface="Consolas"/>
              </a:rPr>
              <a:t>Sfax  —  ORANGE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377440"/>
            <a:ext cx="3502152" cy="56692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66176" y="2551176"/>
            <a:ext cx="219456" cy="219456"/>
          </a:xfrm>
          <a:prstGeom prst="ellipse">
            <a:avLst/>
          </a:prstGeom>
          <a:solidFill>
            <a:srgbClr val="D5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3648" y="2523744"/>
            <a:ext cx="27706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EFE6"/>
                </a:solidFill>
                <a:latin typeface="Consolas"/>
              </a:rPr>
              <a:t>Gabès  —  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00400"/>
            <a:ext cx="350520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364992"/>
            <a:ext cx="310286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EVERY DAY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Central Pharmacy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Predict shortages, optimize imports, validate my recommendations on a national map.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6448" y="3200400"/>
            <a:ext cx="350520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7616" y="3364992"/>
            <a:ext cx="310286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AT THE COUNTER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Pharmacies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Receive alerts, order at the right time, get validated substitute medicines.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4528" y="3200400"/>
            <a:ext cx="3505200" cy="1783080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5696" y="3364992"/>
            <a:ext cx="310286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ANY TIME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Citizens &amp; doctors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Search available medicines, see nearby pharmacies, get restock notifications. Free.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SENTINELLERX  ·  LA MÉTÉO DES MÉDICAMENTS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3825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19456"/>
            <a:ext cx="11460175" cy="6199632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5C77F"/>
                </a:solidFill>
                <a:latin typeface="Consolas"/>
              </a:rPr>
              <a:t>08 · COMPETITIVE DIFFERENTIATION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94944"/>
            <a:ext cx="1088136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5156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>
                <a:solidFill>
                  <a:srgbClr val="35C77F"/>
                </a:solidFill>
                <a:latin typeface="Consolas"/>
              </a:rPr>
              <a:t>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014984"/>
            <a:ext cx="10104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2EFE6"/>
                </a:solidFill>
                <a:latin typeface="Consolas"/>
              </a:rPr>
              <a:t>OTHERS SHOW THE PAST. </a:t>
            </a:r>
            <a:r>
              <a:rPr sz="2600" b="1">
                <a:solidFill>
                  <a:srgbClr val="7FF0B4"/>
                </a:solidFill>
                <a:latin typeface="Consolas"/>
              </a:rPr>
              <a:t>I PREDICT THE FUTURE.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892808"/>
            <a:ext cx="10104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5A392"/>
                </a:solidFill>
                <a:latin typeface="Consolas"/>
              </a:rPr>
              <a:t>Predictive + explainable + Arabic — nobody else does all three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23774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EXCEL + ERP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7568" y="23774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BI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23774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MED-FINDER APPS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8048" y="23774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5C77F"/>
                </a:solidFill>
                <a:latin typeface="Consolas"/>
              </a:rPr>
              <a:t>SENTINELLERX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7797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A7C2B1"/>
                </a:solidFill>
                <a:latin typeface="Segoe UI"/>
              </a:rPr>
              <a:t>Predicts shortages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95344" y="2706624"/>
            <a:ext cx="1664208" cy="31089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85A392"/>
                </a:solidFill>
                <a:latin typeface="Consolas"/>
              </a:rPr>
              <a:t>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15584" y="2706624"/>
            <a:ext cx="1664208" cy="31089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85A392"/>
                </a:solidFill>
                <a:latin typeface="Consolas"/>
              </a:rPr>
              <a:t>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35824" y="2706624"/>
            <a:ext cx="1664208" cy="31089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85A392"/>
                </a:solidFill>
                <a:latin typeface="Consolas"/>
              </a:rPr>
              <a:t>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56064" y="2706624"/>
            <a:ext cx="1664208" cy="31089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FF0B4"/>
                </a:solidFill>
                <a:latin typeface="Consola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16382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A7C2B1"/>
                </a:solidFill>
                <a:latin typeface="Segoe UI"/>
              </a:rPr>
              <a:t>Explains its alerts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95344" y="3090672"/>
            <a:ext cx="1664208" cy="31089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85A392"/>
                </a:solidFill>
                <a:latin typeface="Consolas"/>
              </a:rPr>
              <a:t>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5584" y="3090672"/>
            <a:ext cx="1664208" cy="31089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85A392"/>
                </a:solidFill>
                <a:latin typeface="Consolas"/>
              </a:rPr>
              <a:t>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35824" y="3090672"/>
            <a:ext cx="1664208" cy="31089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85A392"/>
                </a:solidFill>
                <a:latin typeface="Consolas"/>
              </a:rPr>
              <a:t>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56064" y="3090672"/>
            <a:ext cx="1664208" cy="31089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FF0B4"/>
                </a:solidFill>
                <a:latin typeface="Consola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54787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A7C2B1"/>
                </a:solidFill>
                <a:latin typeface="Segoe UI"/>
              </a:rPr>
              <a:t>French + Arabic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95344" y="3474720"/>
            <a:ext cx="1664208" cy="31089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85A392"/>
                </a:solidFill>
                <a:latin typeface="Consolas"/>
              </a:rPr>
              <a:t>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15584" y="3474720"/>
            <a:ext cx="1664208" cy="31089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85A392"/>
                </a:solidFill>
                <a:latin typeface="Consolas"/>
              </a:rPr>
              <a:t>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35824" y="3474720"/>
            <a:ext cx="1664208" cy="31089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85A392"/>
                </a:solidFill>
                <a:latin typeface="Consolas"/>
              </a:rPr>
              <a:t>~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56064" y="3474720"/>
            <a:ext cx="1664208" cy="31089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FF0B4"/>
                </a:solidFill>
                <a:latin typeface="Consola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9319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A7C2B1"/>
                </a:solidFill>
                <a:latin typeface="Segoe UI"/>
              </a:rPr>
              <a:t>State + pharmacy + citizen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95344" y="3858768"/>
            <a:ext cx="1664208" cy="31089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85A392"/>
                </a:solidFill>
                <a:latin typeface="Consolas"/>
              </a:rPr>
              <a:t>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15584" y="3858768"/>
            <a:ext cx="1664208" cy="31089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85A392"/>
                </a:solidFill>
                <a:latin typeface="Consolas"/>
              </a:rPr>
              <a:t>~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35824" y="3858768"/>
            <a:ext cx="1664208" cy="31089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85A392"/>
                </a:solidFill>
                <a:latin typeface="Consolas"/>
              </a:rPr>
              <a:t>~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56064" y="3858768"/>
            <a:ext cx="1664208" cy="31089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FF0B4"/>
                </a:solidFill>
                <a:latin typeface="Consola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8064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7C2B1"/>
                </a:solidFill>
                <a:latin typeface="Segoe UI"/>
              </a:rPr>
              <a:t>Most solutions worldwide only observe the shortage. I predict it, explain the cause, and propose an action.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SENTINELLERX  ·  LA MÉTÉO DES MÉDICAMENTS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3825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19456"/>
            <a:ext cx="11460175" cy="6199632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5C77F"/>
                </a:solidFill>
                <a:latin typeface="Consolas"/>
              </a:rPr>
              <a:t>09 · DEMO SCENARIO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94944"/>
            <a:ext cx="1088136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5156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>
                <a:solidFill>
                  <a:srgbClr val="35C77F"/>
                </a:solidFill>
                <a:latin typeface="Consolas"/>
              </a:rPr>
              <a:t>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014984"/>
            <a:ext cx="10104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2EFE6"/>
                </a:solidFill>
                <a:latin typeface="Consolas"/>
              </a:rPr>
              <a:t>DEMO TIME. WATCH ME SAVE </a:t>
            </a:r>
            <a:r>
              <a:rPr sz="2600" b="1">
                <a:solidFill>
                  <a:srgbClr val="7FF0B4"/>
                </a:solidFill>
                <a:latin typeface="Consolas"/>
              </a:rPr>
              <a:t>INSULIN</a:t>
            </a:r>
            <a:r>
              <a:rPr sz="2600" b="1">
                <a:solidFill>
                  <a:srgbClr val="E2EFE6"/>
                </a:solidFill>
                <a:latin typeface="Consolas"/>
              </a:rPr>
              <a:t> — 35 DAYS BEFORE THE CRISIS.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892808"/>
            <a:ext cx="10104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5A392"/>
                </a:solidFill>
                <a:latin typeface="Consolas"/>
              </a:rPr>
              <a:t>The perfect scenario · from data to patient in 6 steps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87168"/>
            <a:ext cx="3505200" cy="1481328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651760"/>
            <a:ext cx="3102864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STEP 1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Data goes in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Stocks, sales and supplier data are injected into the platform.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2487168"/>
            <a:ext cx="3505200" cy="1481328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7616" y="2651760"/>
            <a:ext cx="3102864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STEP 2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I detect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Risk of insulin shortage in 35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4528" y="2487168"/>
            <a:ext cx="3505200" cy="1481328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5696" y="2651760"/>
            <a:ext cx="3102864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STEP 3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I explain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Consumption +18% · supplier late 12 days · central stock 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151376"/>
            <a:ext cx="3505200" cy="1481328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315968"/>
            <a:ext cx="3102864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STEP 4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I propose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Order 15,000 units before 28 July.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6448" y="4151376"/>
            <a:ext cx="3505200" cy="1481328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7616" y="4315968"/>
            <a:ext cx="3102864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STEP 5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The pharmacist acts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Local alert + available substitutes, ready to validate.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4528" y="4151376"/>
            <a:ext cx="3505200" cy="1481328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5696" y="4315968"/>
            <a:ext cx="3102864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1">
                <a:solidFill>
                  <a:srgbClr val="35C77F"/>
                </a:solidFill>
                <a:latin typeface="Consolas"/>
              </a:rPr>
              <a:t>STEP 6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E2EFE6"/>
                </a:solidFill>
                <a:latin typeface="Segoe UI"/>
              </a:rPr>
              <a:t>The patient finds it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A7C2B1"/>
                </a:solidFill>
                <a:latin typeface="Segoe UI"/>
              </a:rPr>
              <a:t>“Where is my medicine?” — pharmacies on the map, 2 km away.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SENTINELLERX  ·  LA MÉTÉO DES MÉDICAMENTS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3825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19456"/>
            <a:ext cx="11460175" cy="6199632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5C77F"/>
                </a:solidFill>
                <a:latin typeface="Consolas"/>
              </a:rPr>
              <a:t>10 · THE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94944"/>
            <a:ext cx="10881360" cy="9525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5156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0C1A12"/>
          </a:solidFill>
          <a:ln w="12700">
            <a:solidFill>
              <a:srgbClr val="1F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>
                <a:solidFill>
                  <a:srgbClr val="35C77F"/>
                </a:solidFill>
                <a:latin typeface="Consolas"/>
              </a:rPr>
              <a:t>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014984"/>
            <a:ext cx="10104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2EFE6"/>
                </a:solidFill>
                <a:latin typeface="Consolas"/>
              </a:rPr>
              <a:t>GIVE ME </a:t>
            </a:r>
            <a:r>
              <a:rPr sz="2600" b="1">
                <a:solidFill>
                  <a:srgbClr val="7FF0B4"/>
                </a:solidFill>
                <a:latin typeface="Consolas"/>
              </a:rPr>
              <a:t>ONE REGION AND ONE FLU SEASON.</a:t>
            </a:r>
            <a:r>
              <a:rPr sz="2600" b="1">
                <a:solidFill>
                  <a:srgbClr val="E2EFE6"/>
                </a:solidFill>
                <a:latin typeface="Consolas"/>
              </a:rPr>
              <a:t> I WILL PROVE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892808"/>
            <a:ext cx="10104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5A392"/>
                </a:solidFill>
                <a:latin typeface="Consolas"/>
              </a:rPr>
              <a:t>Pilot: Grand Tunis · 10–20 pharmacies + Central Pharmacy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14600"/>
            <a:ext cx="3502152" cy="60350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200" b="1">
                <a:solidFill>
                  <a:srgbClr val="7FF0B4"/>
                </a:solidFill>
                <a:latin typeface="Consolas"/>
              </a:rPr>
              <a:t>15–30 days of early warning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514600"/>
            <a:ext cx="3502152" cy="60350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200" b="1">
                <a:solidFill>
                  <a:srgbClr val="7FF0B4"/>
                </a:solidFill>
                <a:latin typeface="Consolas"/>
              </a:rPr>
              <a:t>7 of 10 shortages caught in advance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2514600"/>
            <a:ext cx="3502152" cy="60350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5C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200" b="1">
                <a:solidFill>
                  <a:srgbClr val="7FF0B4"/>
                </a:solidFill>
                <a:latin typeface="Consolas"/>
              </a:rPr>
              <a:t>20 actions validated by the PCT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749039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E2EFE6"/>
                </a:solidFill>
                <a:latin typeface="Segoe UI"/>
              </a:rPr>
              <a:t>Healthcare deserves prediction, not reaction.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617720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A7C2B1"/>
                </a:solidFill>
                <a:latin typeface="Segoe UI"/>
              </a:rPr>
              <a:t>SentinelleRx helps every stakeholder — from the Central Pharmacy to the patient — anticipate medicine shortages before they become a crisis.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5778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C77F"/>
                </a:solidFill>
                <a:latin typeface="Consolas"/>
              </a:rPr>
              <a:t>THANK YOU  ·  QUESTIONS?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SENTINELLERX  ·  LA MÉTÉO DES MÉDICAMENTS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3825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5A392"/>
                </a:solidFill>
                <a:latin typeface="Consolas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